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יום האקטון לכ-150 עובדים, במשך יום אחד או יומיים, עם שימוש ב-Claude ככלי עבודה.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לכל מטרה מוגדר מדד, והמדדים נבחנים בסקר המשוב ובדוחות ההמשך לאחר 30 ו-90 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עקרונות שחוזרים בהאקטונים בחברות טכנולוגיה.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את ההכנה הנדרשת בחלופה C ניתן לקצר בעזרת Claude, שמקבץ את תשובות הסקר ומנסח את האתגרים.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המבנה זהה בשתי החלופות. ביום אחד, היקף האתגרים מותאם ליום עבודה.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החלופה המשולבת מאזנת בין רלוונטיות עסקית לחופש בחירה, ומאפשרת ייצוג לכל התחומים.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לפני האירוע: הדרכה של 60 דקות לכלל העובדים, ומלווה Claude בכל צוות. לבדוק מראש הרשאות, כללי אבטחת מידע ומגבלות שימוש.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לכל מסלול קטגוריית הכרה נפרדת בשיפוט.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דוגמאות מתוך 25 במסמך. המאגר בפועל ייבנה מתשובות סקר העובדים, ולכל אתגר ימונה בעל בעיה.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חלופות נוספות: שיבוץ מלא על ידי המארגנים, או הצגת רעיונות והצטרפות ביום האירוע. השיבוץ המשולב לוקח כשעת עבודה.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ראש הצוות אינו חייב להיות הבכיר בצוות.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אם זמן ההכנה מוגבל לשבועיים, מקצרים את הסקר ל-5 ימים ומאחדים הרשמה ושיבוץ. בדיקת ההרשאות נשארת בכל מקרה.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הפתיחה כוללת 20 דקות של הדגמות Claude לפי תפקיד. בהצגה המרכזית מציגים 6 צוותים.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המשתתפים אינם נשארים ללינה. משך זה מתאים לפרויקטי חומרה וסימולציה.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ההצגה בעמדות מאפשרת לכל העובדים לראות את כל התוצרים בלי 24 הצגות רצופות.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5–7 שופטים: נציג הנהלה בכירה, מנהל מוצר, מנהל הנדסה, נציג מחקר ואלגוריתמיקה ונציג חומרה.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פירוט האחריות של כל תפקיד בצוות המארגן מופיע במסמך.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הקצאת הזמן לפרויקטים שנבחרו מחייבת אישור הנהלה מראש.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הרשימה המלאה מופיעה במסמך.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ההחלטות האלה הן תנאי לתחילת לוח הזמנים להכנה.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400" kern="0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·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66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האקטון</a:t>
            </a:r>
            <a:endParaRPr lang="he-IL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4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לאירוע</a:t>
            </a:r>
            <a:endParaRPr lang="he-IL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תוכנה · סימולציה · אלגוריתמיקה · מחקר · חומרה</a:t>
            </a:r>
            <a:endParaRPr lang="he-IL" sz="1600" dirty="0"/>
          </a:p>
        </p:txBody>
      </p:sp>
      <p:sp>
        <p:nvSpPr>
          <p:cNvPr id="6" name="Shape 4"/>
          <p:cNvSpPr/>
          <p:nvPr/>
        </p:nvSpPr>
        <p:spPr>
          <a:xfrm>
            <a:off x="9075191" y="4480560"/>
            <a:ext cx="2567864" cy="1371600"/>
          </a:xfrm>
          <a:prstGeom prst="roundRect">
            <a:avLst>
              <a:gd name="adj" fmla="val 6667"/>
            </a:avLst>
          </a:prstGeom>
          <a:solidFill>
            <a:srgbClr val="2E2280"/>
          </a:solidFill>
          <a:ln w="12700">
            <a:solidFill>
              <a:srgbClr val="5A4FB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03791" y="457200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9303791" y="53035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עובדים</a:t>
            </a:r>
            <a:endParaRPr lang="he-IL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4480560"/>
            <a:ext cx="2567864" cy="1371600"/>
          </a:xfrm>
          <a:prstGeom prst="roundRect">
            <a:avLst>
              <a:gd name="adj" fmla="val 6667"/>
            </a:avLst>
          </a:prstGeom>
          <a:solidFill>
            <a:srgbClr val="2E2280"/>
          </a:solidFill>
          <a:ln w="12700">
            <a:solidFill>
              <a:srgbClr val="5A4F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1608" y="457200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53035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צוותים</a:t>
            </a:r>
            <a:endParaRPr lang="he-IL" sz="1400" dirty="0"/>
          </a:p>
        </p:txBody>
      </p:sp>
      <p:sp>
        <p:nvSpPr>
          <p:cNvPr id="12" name="Shape 10"/>
          <p:cNvSpPr/>
          <p:nvPr/>
        </p:nvSpPr>
        <p:spPr>
          <a:xfrm>
            <a:off x="3390824" y="4480560"/>
            <a:ext cx="2567864" cy="1371600"/>
          </a:xfrm>
          <a:prstGeom prst="roundRect">
            <a:avLst>
              <a:gd name="adj" fmla="val 6667"/>
            </a:avLst>
          </a:prstGeom>
          <a:solidFill>
            <a:srgbClr val="2E2280"/>
          </a:solidFill>
          <a:ln w="12700">
            <a:solidFill>
              <a:srgbClr val="5A4F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9424" y="457200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619424" y="53035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ימים</a:t>
            </a:r>
            <a:endParaRPr lang="he-IL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2567864" cy="1371600"/>
          </a:xfrm>
          <a:prstGeom prst="roundRect">
            <a:avLst>
              <a:gd name="adj" fmla="val 6667"/>
            </a:avLst>
          </a:prstGeom>
          <a:solidFill>
            <a:srgbClr val="2E2280"/>
          </a:solidFill>
          <a:ln w="12700">
            <a:solidFill>
              <a:srgbClr val="5A4FB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7200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3035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מסלולים</a:t>
            </a:r>
            <a:endParaRPr lang="he-IL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 ומדדים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8127797" y="173736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56397" y="19202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 בבעיות קיימות</a:t>
            </a:r>
            <a:endParaRPr lang="he-I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4231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בעיות נאספות מראש; 15 לפחות מטופלות</a:t>
            </a:r>
            <a:endParaRPr lang="he-IL" sz="1400" dirty="0"/>
          </a:p>
        </p:txBody>
      </p:sp>
      <p:sp>
        <p:nvSpPr>
          <p:cNvPr id="7" name="Shape 5"/>
          <p:cNvSpPr/>
          <p:nvPr/>
        </p:nvSpPr>
        <p:spPr>
          <a:xfrm>
            <a:off x="4338218" y="173736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9202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שיפור המוצר</a:t>
            </a:r>
            <a:endParaRPr lang="he-IL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66818" y="24231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הצעות לפחות מועברות לתכנון המוצר</a:t>
            </a:r>
            <a:endParaRPr lang="he-IL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9202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ייעול תהליכים</a:t>
            </a:r>
            <a:endParaRPr lang="he-IL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4231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כלים לפחות בשימוש בתוך 30 יום</a:t>
            </a:r>
            <a:endParaRPr lang="he-IL" sz="1400" dirty="0"/>
          </a:p>
        </p:txBody>
      </p:sp>
      <p:sp>
        <p:nvSpPr>
          <p:cNvPr id="13" name="Shape 11"/>
          <p:cNvSpPr/>
          <p:nvPr/>
        </p:nvSpPr>
        <p:spPr>
          <a:xfrm>
            <a:off x="8127797" y="393192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4114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שיתוף פעולה</a:t>
            </a:r>
            <a:endParaRPr lang="he-IL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461772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מהצוותים כוללים 3 תחומים או יותר</a:t>
            </a:r>
            <a:endParaRPr lang="he-IL" sz="1400" dirty="0"/>
          </a:p>
        </p:txBody>
      </p:sp>
      <p:sp>
        <p:nvSpPr>
          <p:cNvPr id="16" name="Shape 14"/>
          <p:cNvSpPr/>
          <p:nvPr/>
        </p:nvSpPr>
        <p:spPr>
          <a:xfrm>
            <a:off x="4338218" y="393192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6818" y="4114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הטמעת Claude</a:t>
            </a:r>
            <a:endParaRPr lang="he-IL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66818" y="461772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המשתתפים משתמשים; 10 תהליכי עבודה מתועדים</a:t>
            </a:r>
            <a:endParaRPr lang="he-IL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114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יוזמה ומנהיגות</a:t>
            </a:r>
            <a:endParaRPr lang="he-IL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61772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ראשי צוותים; 85% שביעות רצון בסקר המשוב</a:t>
            </a:r>
            <a:endParaRPr lang="he-IL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עקרונות מקובלים בתעשייה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8127797" y="173736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56397" y="19202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הכנה מוקדמת</a:t>
            </a:r>
            <a:endParaRPr lang="he-I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4231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אתגרים, נתונים, הרשאות וסביבות מוכנים לפני האירוע</a:t>
            </a:r>
            <a:endParaRPr lang="he-IL" sz="1400" dirty="0"/>
          </a:p>
        </p:txBody>
      </p:sp>
      <p:sp>
        <p:nvSpPr>
          <p:cNvPr id="7" name="Shape 5"/>
          <p:cNvSpPr/>
          <p:nvPr/>
        </p:nvSpPr>
        <p:spPr>
          <a:xfrm>
            <a:off x="4338218" y="173736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9202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מעורבות הנהלה</a:t>
            </a:r>
            <a:endParaRPr lang="he-IL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66818" y="24231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פתיחה, שיפוט והתחייבות להמשך הפרויקטים</a:t>
            </a:r>
            <a:endParaRPr lang="he-IL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9202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נקודת ביקורת</a:t>
            </a:r>
            <a:endParaRPr lang="he-IL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4231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בחינת היקף העבודה באמצע היום</a:t>
            </a:r>
            <a:endParaRPr lang="he-IL" sz="1400" dirty="0"/>
          </a:p>
        </p:txBody>
      </p:sp>
      <p:sp>
        <p:nvSpPr>
          <p:cNvPr id="13" name="Shape 11"/>
          <p:cNvSpPr/>
          <p:nvPr/>
        </p:nvSpPr>
        <p:spPr>
          <a:xfrm>
            <a:off x="8127797" y="393192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4114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 עובד</a:t>
            </a:r>
            <a:endParaRPr lang="he-IL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461772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צוות מציג תוצר פעיל, גם אם חלקי</a:t>
            </a:r>
            <a:endParaRPr lang="he-IL" sz="1400" dirty="0"/>
          </a:p>
        </p:txBody>
      </p:sp>
      <p:sp>
        <p:nvSpPr>
          <p:cNvPr id="16" name="Shape 14"/>
          <p:cNvSpPr/>
          <p:nvPr/>
        </p:nvSpPr>
        <p:spPr>
          <a:xfrm>
            <a:off x="4338218" y="393192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6818" y="4114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המשכיות</a:t>
            </a:r>
            <a:endParaRPr lang="he-IL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66818" y="461772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מוגדר להמשך הפרויקטים לאחר האירוע</a:t>
            </a:r>
            <a:endParaRPr lang="he-IL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114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קטגוריות הכרה</a:t>
            </a:r>
            <a:endParaRPr lang="he-IL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61772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הכרה בכמה תחומים, ולא בזוכה יחיד</a:t>
            </a:r>
            <a:endParaRPr lang="he-IL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פורמט: מקור המשימות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8127797" y="1737360"/>
            <a:ext cx="3515258" cy="384048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56397" y="19202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מאגר אתגרים</a:t>
            </a:r>
            <a:endParaRPr lang="he-I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423160"/>
            <a:ext cx="305805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 מוגדרות מראש על ידי בעלי הבעיות.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5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יתרון: תוצאות ישימות.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5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חיסרון: מרחב יצירתי מצומצם.</a:t>
            </a:r>
            <a:endParaRPr lang="he-IL" sz="1500" dirty="0"/>
          </a:p>
        </p:txBody>
      </p:sp>
      <p:sp>
        <p:nvSpPr>
          <p:cNvPr id="7" name="Shape 5"/>
          <p:cNvSpPr/>
          <p:nvPr/>
        </p:nvSpPr>
        <p:spPr>
          <a:xfrm>
            <a:off x="4338218" y="1737360"/>
            <a:ext cx="3515258" cy="384048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9202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נושא פתוח</a:t>
            </a:r>
            <a:endParaRPr lang="he-IL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66818" y="2423160"/>
            <a:ext cx="305805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משתתף מציע רעיון, והצוותים נבנים סביבו.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5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יתרון: מעורבות גבוהה.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5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חיסרון: קשה לניהול ב-150 משתתפים.</a:t>
            </a:r>
            <a:endParaRPr lang="he-IL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3515258" cy="384048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9202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משולב (מומלץ)</a:t>
            </a:r>
            <a:endParaRPr lang="he-IL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423160"/>
            <a:ext cx="305805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מסלולים מתוך מאגר האתגרים, ומסלול פתוח לעד 20% מהצוותים.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5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יתרון: איזון בין רלוונטיות לחופש.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5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חיסרון: דורש הכנה.</a:t>
            </a:r>
            <a:endParaRPr lang="he-IL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פורמט: משך האירוע</a:t>
            </a:r>
            <a:endParaRPr lang="he-IL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3456432"/>
                <a:gridCol w="3429000"/>
                <a:gridCol w="420624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יומיים (מומלץ)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יום אחד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קריטריון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כ-10.5 שעות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כ-5 שעות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זמן פיתוח נטו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מלאה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חלקית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התאמה לחומרה וסימולציה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גרסה ראשונית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אב-טיפוס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רמת התוצרים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בינונית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נמוכה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השפעה על העבודה השוטפת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ניתן להקצות יומיים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ניתן להקצות יום אחד בלבד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6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מתי לבחור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2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המלצה</a:t>
            </a:r>
            <a:endParaRPr lang="he-IL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9441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1400"/>
              </a:spcAft>
              <a:buNone/>
            </a:pPr>
            <a:r>
              <a:rPr lang="he-IL" altLang="en-US" sz="20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פורמט: משולב — חמישה מסלולים מתוך מאגר האתגרים, ומסלול פתוח.</a:t>
            </a:r>
            <a:endParaRPr lang="he-IL" sz="2000" dirty="0"/>
          </a:p>
          <a:p>
            <a:pPr algn="r" indent="0" marL="0">
              <a:spcAft>
                <a:spcPts val="1400"/>
              </a:spcAft>
              <a:buNone/>
            </a:pPr>
            <a:r>
              <a:rPr lang="he-IL" altLang="en-US" sz="20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משך: יומיים. אם ניתן להקצות יום אחד בלבד, אותו מבנה עם אתגרים בהיקף מותאם.</a:t>
            </a:r>
            <a:endParaRPr lang="he-IL" sz="2000" dirty="0"/>
          </a:p>
          <a:p>
            <a:pPr algn="r" indent="0" marL="0">
              <a:spcAft>
                <a:spcPts val="1400"/>
              </a:spcAft>
              <a:buNone/>
            </a:pPr>
            <a:r>
              <a:rPr lang="he-IL" altLang="en-US" sz="20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צוותים: כ-24 צוותים משולבים של 5–6 משתתפים.</a:t>
            </a:r>
            <a:endParaRPr lang="he-IL" sz="2000" dirty="0"/>
          </a:p>
          <a:p>
            <a:pPr algn="r" indent="0" marL="0">
              <a:spcAft>
                <a:spcPts val="1400"/>
              </a:spcAft>
              <a:buNone/>
            </a:pPr>
            <a:r>
              <a:rPr lang="he-IL" altLang="en-US" sz="20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כלים: שימוש ב-Claude בכל הצוותים.</a:t>
            </a:r>
            <a:endParaRPr lang="he-IL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ב-Claude לפי תפקיד</a:t>
            </a:r>
            <a:endParaRPr lang="he-IL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7799832"/>
                <a:gridCol w="329184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שימושים עיקריים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תפקיד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Code: מבנה פרויקט, refactor, בדיקות, דיבאג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פיתוח תוכנה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צווארי בקבוק, סקריפטי benchmark, האצת קוד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סימולציה ואלגוריתמיקה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סיכום ספרות, המרת מחברות לקוד, ניתוח תוצאות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מחקר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פענוח לוגים ופרוטוקולים, סקריפטי בדיקה, datasheets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חומרה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אב-טיפוס של ממשק, מסמכי דרישות, הכנת הצגה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מוצר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כללים: שימוש בהתאם למדיניות אבטחת המידע · בדיקת הרשאות לכל המשתתפים · גישת API נפרדת לפתרונות אוטומטיים · סקירת קוד על ידי אדם לפני מיזוג</a:t>
            </a:r>
            <a:endParaRPr lang="he-IL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מסלולים</a:t>
            </a:r>
            <a:endParaRPr lang="he-IL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3685032"/>
                <a:gridCol w="4480560"/>
                <a:gridCol w="292608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דוגמאות לתוצרים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תחום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מסלול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סקריפט, אוטומציה, דשבורד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build, CI, קליטת עובדים, תיעוד, בדיקות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ייעול תהליכים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יכולת עובדת, אב-טיפוס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יכולות חדשות, חוויית משתמש, ביצועים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מוצר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תהליך מתועד, כלי פנימי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שיטות עבודה עם Claude בכל התחומים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בינה מלאכותית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benchmark, האצה, כלי השוואה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ביצועים, דיוק, אימות מול מדידות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סימולציה ואלגוריתמיקה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כלי בדיקה, ויזואליזציה של לוגים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בדיקות, מעבדה, דיבאג, HIL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חומרה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לפי ההצעה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הצעות שאינן משויכות למסלול אחר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פתוח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מאגר אתגרים: דוגמאות</a:t>
            </a:r>
            <a:endParaRPr lang="he-IL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325112"/>
                <a:gridCol w="2194560"/>
                <a:gridCol w="329184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קושי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תוצר מינימלי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מסלול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אתגר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ניתוח צווארי בקבוק ושיפור מוכח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ייעול תהליכים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קיצור זמן CI ב-50%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נמוך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סקריפט התקנה ומדריך קליטה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ייעול תהליכים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סביבת פיתוח לעובד חדש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מצב הדגמה עם נתונים מדומים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מוצר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מצב הדגמה למוצר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מענה מתוך התיעוד, עם הפניה למקור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בינה מלאכותית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חיפוש בתיעוד הפנימי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גבוה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פרופיילינג ואופטימיזציה על תרחיש אחד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סימולציה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האצת סימולציה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כלי השוואה ודוח פערים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סימולציה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השוואה למדידות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גבוה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חיבור לוח לבדיקה אוטומטית אחת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חומרה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Hardware-in-the-Loop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נמוך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מערכת הזמנה ומעקב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חומרה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ניהול ציוד מעבדה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צוותים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9075191" y="1737360"/>
            <a:ext cx="256786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03791" y="182880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2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303791" y="24231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משתתפים</a:t>
            </a:r>
            <a:endParaRPr lang="he-IL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737360"/>
            <a:ext cx="256786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82880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2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24231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צוותים של 5–6</a:t>
            </a:r>
            <a:endParaRPr lang="he-IL" sz="1400" dirty="0"/>
          </a:p>
        </p:txBody>
      </p:sp>
      <p:sp>
        <p:nvSpPr>
          <p:cNvPr id="10" name="Shape 8"/>
          <p:cNvSpPr/>
          <p:nvPr/>
        </p:nvSpPr>
        <p:spPr>
          <a:xfrm>
            <a:off x="3390824" y="1737360"/>
            <a:ext cx="256786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9424" y="182880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2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619424" y="24231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מנטורים ומלווי Claude</a:t>
            </a:r>
            <a:endParaRPr lang="he-IL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256786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182880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2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4231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שופטים</a:t>
            </a:r>
            <a:endParaRPr lang="he-IL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3832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שיטת שיבוץ מומלצת</a:t>
            </a:r>
            <a:endParaRPr lang="he-IL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88620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ראשי צוותים ואתגרים נקבעים מראש. כל משתתף מדרג 3 העדפות, והמארגנים משבצים לפי כללי הרכב.</a:t>
            </a:r>
            <a:endParaRPr lang="he-IL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כללי הרכב: 3 תחומים לפחות · עד 2 משתתפים מאותו צוות קבוע · עובדים ותיקים וחדשים · מלווה Claude בכל צוות · משתתף עם גישה לציוד בפרויקט חומרה</a:t>
            </a:r>
            <a:endParaRPr lang="he-IL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ראשי צוותים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8127797" y="1737360"/>
            <a:ext cx="3515258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56397" y="19202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האירוע</a:t>
            </a:r>
            <a:endParaRPr lang="he-I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423160"/>
            <a:ext cx="30580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פגישה עם בעל הבעיה, טופס הגדרת בעיה, מסמך רקע, וידוא הרשאות, פגישת היכרות עם הצוות.</a:t>
            </a:r>
            <a:endParaRPr lang="he-IL" sz="1600" dirty="0"/>
          </a:p>
        </p:txBody>
      </p:sp>
      <p:sp>
        <p:nvSpPr>
          <p:cNvPr id="7" name="Shape 5"/>
          <p:cNvSpPr/>
          <p:nvPr/>
        </p:nvSpPr>
        <p:spPr>
          <a:xfrm>
            <a:off x="4338218" y="1737360"/>
            <a:ext cx="3515258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9202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במהלך האירוע</a:t>
            </a:r>
            <a:endParaRPr lang="he-IL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66818" y="2423160"/>
            <a:ext cx="30580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הגדרת היקף, חלוקת עבודה, ניהול זמנים והסרת חסמים.</a:t>
            </a:r>
            <a:endParaRPr lang="he-IL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3515258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9202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בסיום ולאחר מכן</a:t>
            </a:r>
            <a:endParaRPr lang="he-IL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423160"/>
            <a:ext cx="30580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הצגה של 4 דקות, טופס הגשה, מסמך המשך. בפרויקט שנבחר, הובלת ההמשך.</a:t>
            </a:r>
            <a:endParaRPr lang="he-IL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בחירה: פנייה פתוחה והמלצות מנהלים, בעדיפות לעובדים שטרם הובילו צוות. הכשרה: 60 דקות, שבוע עד שבועיים לפני האירוע.</a:t>
            </a:r>
            <a:endParaRPr lang="he-IL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זמנים להכנה</a:t>
            </a:r>
            <a:endParaRPr lang="he-IL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8348472"/>
                <a:gridCol w="274320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פעולה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מועד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אישור הנהלה, קביעת מועד, צוות מארגן, הפצת סקר הבעיות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שבועות לפני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קיבוץ הבעיות למאגר אתגרים; בדיקת הרשאות Claude; פנייה לראשי צוותים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שבועות לפני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הרשמה, שיבוץ, הכשרת ראשי צוותים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שבועיים לפני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הדרכת Claude לכלל העובדים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ימים לפני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פרסום צוותים, סביבות, מסמכי רקע, תדריך שופטים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שבוע לפני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בדיקת ציוד הצגה, רשת וטפסים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יומיים לפני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זמנים: יום אחד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10731920" y="1828800"/>
            <a:ext cx="883704" cy="1188720"/>
          </a:xfrm>
          <a:prstGeom prst="rect">
            <a:avLst/>
          </a:prstGeom>
          <a:solidFill>
            <a:srgbClr val="8D92A8"/>
          </a:solidFill>
          <a:ln w="12700">
            <a:solidFill>
              <a:srgbClr val="8D92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05072" y="1901952"/>
            <a:ext cx="72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08:45</a:t>
            </a:r>
            <a:endParaRPr lang="he-IL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805072" y="2560320"/>
            <a:ext cx="72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התכנסות</a:t>
            </a:r>
            <a:endParaRPr lang="he-IL" sz="1200" dirty="0"/>
          </a:p>
        </p:txBody>
      </p:sp>
      <p:sp>
        <p:nvSpPr>
          <p:cNvPr id="7" name="Shape 5"/>
          <p:cNvSpPr/>
          <p:nvPr/>
        </p:nvSpPr>
        <p:spPr>
          <a:xfrm>
            <a:off x="9659995" y="1828800"/>
            <a:ext cx="1044492" cy="1188720"/>
          </a:xfrm>
          <a:prstGeom prst="rect">
            <a:avLst/>
          </a:prstGeom>
          <a:solidFill>
            <a:srgbClr val="C24E0C"/>
          </a:solidFill>
          <a:ln w="12700">
            <a:solidFill>
              <a:srgbClr val="C24E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33147" y="1901952"/>
            <a:ext cx="889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he-IL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733147" y="2560320"/>
            <a:ext cx="889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פתיחה</a:t>
            </a:r>
            <a:endParaRPr lang="he-IL" sz="1200" dirty="0"/>
          </a:p>
        </p:txBody>
      </p:sp>
      <p:sp>
        <p:nvSpPr>
          <p:cNvPr id="10" name="Shape 8"/>
          <p:cNvSpPr/>
          <p:nvPr/>
        </p:nvSpPr>
        <p:spPr>
          <a:xfrm>
            <a:off x="7194570" y="1828800"/>
            <a:ext cx="2437994" cy="1188720"/>
          </a:xfrm>
          <a:prstGeom prst="rect">
            <a:avLst/>
          </a:prstGeom>
          <a:solidFill>
            <a:srgbClr val="4B3BC4"/>
          </a:solidFill>
          <a:ln w="12700">
            <a:solidFill>
              <a:srgbClr val="4B3B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7722" y="1901952"/>
            <a:ext cx="2282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10:10</a:t>
            </a:r>
            <a:endParaRPr lang="he-IL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267722" y="2560320"/>
            <a:ext cx="22825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עבודה 1</a:t>
            </a:r>
            <a:endParaRPr lang="he-IL" sz="1200" dirty="0"/>
          </a:p>
        </p:txBody>
      </p:sp>
      <p:sp>
        <p:nvSpPr>
          <p:cNvPr id="13" name="Shape 11"/>
          <p:cNvSpPr/>
          <p:nvPr/>
        </p:nvSpPr>
        <p:spPr>
          <a:xfrm>
            <a:off x="6122646" y="1828800"/>
            <a:ext cx="1044492" cy="1188720"/>
          </a:xfrm>
          <a:prstGeom prst="rect">
            <a:avLst/>
          </a:prstGeom>
          <a:solidFill>
            <a:srgbClr val="8D92A8"/>
          </a:solidFill>
          <a:ln w="12700">
            <a:solidFill>
              <a:srgbClr val="8D92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5798" y="1901952"/>
            <a:ext cx="889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12:30</a:t>
            </a:r>
            <a:endParaRPr lang="he-IL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95798" y="2560320"/>
            <a:ext cx="889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צהריים</a:t>
            </a:r>
            <a:endParaRPr lang="he-IL" sz="1200" dirty="0"/>
          </a:p>
        </p:txBody>
      </p:sp>
      <p:sp>
        <p:nvSpPr>
          <p:cNvPr id="16" name="Shape 14"/>
          <p:cNvSpPr/>
          <p:nvPr/>
        </p:nvSpPr>
        <p:spPr>
          <a:xfrm>
            <a:off x="3978797" y="1828800"/>
            <a:ext cx="2116416" cy="1188720"/>
          </a:xfrm>
          <a:prstGeom prst="rect">
            <a:avLst/>
          </a:prstGeom>
          <a:solidFill>
            <a:srgbClr val="4B3BC4"/>
          </a:solidFill>
          <a:ln w="12700">
            <a:solidFill>
              <a:srgbClr val="4B3B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51949" y="1901952"/>
            <a:ext cx="196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</a:t>
            </a:r>
            <a:endParaRPr lang="he-IL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051949" y="2560320"/>
            <a:ext cx="1960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עבודה 2</a:t>
            </a:r>
            <a:endParaRPr lang="he-IL" sz="1200" dirty="0"/>
          </a:p>
        </p:txBody>
      </p:sp>
      <p:sp>
        <p:nvSpPr>
          <p:cNvPr id="19" name="Shape 17"/>
          <p:cNvSpPr/>
          <p:nvPr/>
        </p:nvSpPr>
        <p:spPr>
          <a:xfrm>
            <a:off x="2692488" y="1828800"/>
            <a:ext cx="1258877" cy="1188720"/>
          </a:xfrm>
          <a:prstGeom prst="rect">
            <a:avLst/>
          </a:prstGeom>
          <a:solidFill>
            <a:srgbClr val="4B3BC4"/>
          </a:solidFill>
          <a:ln w="12700">
            <a:solidFill>
              <a:srgbClr val="4B3B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65640" y="1901952"/>
            <a:ext cx="1103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15:45</a:t>
            </a:r>
            <a:endParaRPr lang="he-IL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765640" y="2560320"/>
            <a:ext cx="11034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עבודה 3</a:t>
            </a:r>
            <a:endParaRPr lang="he-IL" sz="1200" dirty="0"/>
          </a:p>
        </p:txBody>
      </p:sp>
      <p:sp>
        <p:nvSpPr>
          <p:cNvPr id="22" name="Shape 20"/>
          <p:cNvSpPr/>
          <p:nvPr/>
        </p:nvSpPr>
        <p:spPr>
          <a:xfrm>
            <a:off x="1727757" y="1828800"/>
            <a:ext cx="937300" cy="1188720"/>
          </a:xfrm>
          <a:prstGeom prst="rect">
            <a:avLst/>
          </a:prstGeom>
          <a:solidFill>
            <a:srgbClr val="C24E0C"/>
          </a:solidFill>
          <a:ln w="12700">
            <a:solidFill>
              <a:srgbClr val="C24E0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800909" y="1901952"/>
            <a:ext cx="781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16:45</a:t>
            </a:r>
            <a:endParaRPr lang="he-IL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800909" y="2560320"/>
            <a:ext cx="781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עמדות</a:t>
            </a:r>
            <a:endParaRPr lang="he-IL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1828800"/>
            <a:ext cx="1151685" cy="1188720"/>
          </a:xfrm>
          <a:prstGeom prst="rect">
            <a:avLst/>
          </a:prstGeom>
          <a:solidFill>
            <a:srgbClr val="C24E0C"/>
          </a:solidFill>
          <a:ln w="12700">
            <a:solidFill>
              <a:srgbClr val="C24E0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1901952"/>
            <a:ext cx="9962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17:40</a:t>
            </a:r>
            <a:endParaRPr lang="he-IL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2560320"/>
            <a:ext cx="9962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הצגה והכרזה</a:t>
            </a:r>
            <a:endParaRPr lang="he-IL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11094415" cy="914400"/>
        </p:xfrm>
        <a:graphic>
          <a:graphicData uri="http://schemas.openxmlformats.org/drawingml/2006/table">
            <a:tbl>
              <a:tblPr/>
              <a:tblGrid>
                <a:gridCol w="7982712"/>
                <a:gridCol w="310896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פירוט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נושא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כ-5 שעות בשלושה פרקי עבודה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זמן פיתוח נטו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12:30, מול מנטור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בדיקת היקף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16:45, הגשת טופס וסרטון גיבוי של 60 שניות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סיום הפיתוח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זמנים: יומיים (מומלץ)</a:t>
            </a:r>
            <a:endParaRPr lang="he-IL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א'</a:t>
            </a:r>
            <a:endParaRPr lang="he-IL" sz="1400" dirty="0"/>
          </a:p>
        </p:txBody>
      </p:sp>
      <p:sp>
        <p:nvSpPr>
          <p:cNvPr id="5" name="Shape 3"/>
          <p:cNvSpPr/>
          <p:nvPr/>
        </p:nvSpPr>
        <p:spPr>
          <a:xfrm>
            <a:off x="10241655" y="2011680"/>
            <a:ext cx="1373968" cy="1005840"/>
          </a:xfrm>
          <a:prstGeom prst="rect">
            <a:avLst/>
          </a:prstGeom>
          <a:solidFill>
            <a:srgbClr val="C24E0C"/>
          </a:solidFill>
          <a:ln w="12700">
            <a:solidFill>
              <a:srgbClr val="C24E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14807" y="2084832"/>
            <a:ext cx="12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he-IL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314807" y="2560320"/>
            <a:ext cx="12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פתיחה</a:t>
            </a:r>
            <a:endParaRPr lang="he-IL" sz="1200" dirty="0"/>
          </a:p>
        </p:txBody>
      </p:sp>
      <p:sp>
        <p:nvSpPr>
          <p:cNvPr id="8" name="Shape 6"/>
          <p:cNvSpPr/>
          <p:nvPr/>
        </p:nvSpPr>
        <p:spPr>
          <a:xfrm>
            <a:off x="7555639" y="2011680"/>
            <a:ext cx="2658584" cy="1005840"/>
          </a:xfrm>
          <a:prstGeom prst="rect">
            <a:avLst/>
          </a:prstGeom>
          <a:solidFill>
            <a:srgbClr val="4B3BC4"/>
          </a:solidFill>
          <a:ln w="12700">
            <a:solidFill>
              <a:srgbClr val="4B3B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28791" y="2084832"/>
            <a:ext cx="25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10:10</a:t>
            </a:r>
            <a:endParaRPr lang="he-IL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28791" y="2560320"/>
            <a:ext cx="25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עבודה 1</a:t>
            </a:r>
            <a:endParaRPr lang="he-IL" sz="1200" dirty="0"/>
          </a:p>
        </p:txBody>
      </p:sp>
      <p:sp>
        <p:nvSpPr>
          <p:cNvPr id="11" name="Shape 9"/>
          <p:cNvSpPr/>
          <p:nvPr/>
        </p:nvSpPr>
        <p:spPr>
          <a:xfrm>
            <a:off x="6387806" y="2011680"/>
            <a:ext cx="1140401" cy="1005840"/>
          </a:xfrm>
          <a:prstGeom prst="rect">
            <a:avLst/>
          </a:prstGeom>
          <a:solidFill>
            <a:srgbClr val="8D92A8"/>
          </a:solidFill>
          <a:ln w="12700">
            <a:solidFill>
              <a:srgbClr val="8D92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0958" y="2084832"/>
            <a:ext cx="984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12:30</a:t>
            </a:r>
            <a:endParaRPr lang="he-IL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60958" y="2560320"/>
            <a:ext cx="9849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צהריים</a:t>
            </a:r>
            <a:endParaRPr lang="he-IL" sz="1200" dirty="0"/>
          </a:p>
        </p:txBody>
      </p:sp>
      <p:sp>
        <p:nvSpPr>
          <p:cNvPr id="14" name="Shape 12"/>
          <p:cNvSpPr/>
          <p:nvPr/>
        </p:nvSpPr>
        <p:spPr>
          <a:xfrm>
            <a:off x="1716473" y="2011680"/>
            <a:ext cx="4643901" cy="1005840"/>
          </a:xfrm>
          <a:prstGeom prst="rect">
            <a:avLst/>
          </a:prstGeom>
          <a:solidFill>
            <a:srgbClr val="4B3BC4"/>
          </a:solidFill>
          <a:ln w="12700">
            <a:solidFill>
              <a:srgbClr val="4B3B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89625" y="2084832"/>
            <a:ext cx="44884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</a:t>
            </a:r>
            <a:endParaRPr lang="he-IL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789625" y="2560320"/>
            <a:ext cx="44884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עבודה 2 · בדיקת היקף ב-15:30</a:t>
            </a:r>
            <a:endParaRPr lang="he-IL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011680"/>
            <a:ext cx="1140401" cy="1005840"/>
          </a:xfrm>
          <a:prstGeom prst="rect">
            <a:avLst/>
          </a:prstGeom>
          <a:solidFill>
            <a:srgbClr val="8A7FE0"/>
          </a:solidFill>
          <a:ln w="12700">
            <a:solidFill>
              <a:srgbClr val="8A7F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2084832"/>
            <a:ext cx="984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17:30</a:t>
            </a:r>
            <a:endParaRPr lang="he-IL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2560320"/>
            <a:ext cx="9849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עדכון</a:t>
            </a:r>
            <a:endParaRPr lang="he-IL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46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ב'</a:t>
            </a:r>
            <a:endParaRPr lang="he-IL" sz="1400" dirty="0"/>
          </a:p>
        </p:txBody>
      </p:sp>
      <p:sp>
        <p:nvSpPr>
          <p:cNvPr id="21" name="Shape 19"/>
          <p:cNvSpPr/>
          <p:nvPr/>
        </p:nvSpPr>
        <p:spPr>
          <a:xfrm>
            <a:off x="10645804" y="3611880"/>
            <a:ext cx="969819" cy="1005840"/>
          </a:xfrm>
          <a:prstGeom prst="rect">
            <a:avLst/>
          </a:prstGeom>
          <a:solidFill>
            <a:srgbClr val="8A7FE0"/>
          </a:solidFill>
          <a:ln w="12700">
            <a:solidFill>
              <a:srgbClr val="8A7F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18956" y="3685032"/>
            <a:ext cx="8143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he-IL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718956" y="4160520"/>
            <a:ext cx="8143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עדכון</a:t>
            </a:r>
            <a:endParaRPr lang="he-IL" sz="1200" dirty="0"/>
          </a:p>
        </p:txBody>
      </p:sp>
      <p:sp>
        <p:nvSpPr>
          <p:cNvPr id="24" name="Shape 22"/>
          <p:cNvSpPr/>
          <p:nvPr/>
        </p:nvSpPr>
        <p:spPr>
          <a:xfrm>
            <a:off x="6282832" y="3611880"/>
            <a:ext cx="4335540" cy="1005840"/>
          </a:xfrm>
          <a:prstGeom prst="rect">
            <a:avLst/>
          </a:prstGeom>
          <a:solidFill>
            <a:srgbClr val="4B3BC4"/>
          </a:solidFill>
          <a:ln w="12700">
            <a:solidFill>
              <a:srgbClr val="4B3B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984" y="3685032"/>
            <a:ext cx="4180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</a:t>
            </a:r>
            <a:endParaRPr lang="he-IL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55984" y="4160520"/>
            <a:ext cx="41800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עבודה 3</a:t>
            </a:r>
            <a:endParaRPr lang="he-IL" sz="1200" dirty="0"/>
          </a:p>
        </p:txBody>
      </p:sp>
      <p:sp>
        <p:nvSpPr>
          <p:cNvPr id="27" name="Shape 25"/>
          <p:cNvSpPr/>
          <p:nvPr/>
        </p:nvSpPr>
        <p:spPr>
          <a:xfrm>
            <a:off x="5160925" y="3611880"/>
            <a:ext cx="1094475" cy="1005840"/>
          </a:xfrm>
          <a:prstGeom prst="rect">
            <a:avLst/>
          </a:prstGeom>
          <a:solidFill>
            <a:srgbClr val="8D92A8"/>
          </a:solidFill>
          <a:ln w="12700">
            <a:solidFill>
              <a:srgbClr val="8D92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34077" y="3685032"/>
            <a:ext cx="9390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he-IL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34077" y="4160520"/>
            <a:ext cx="9390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צהריים</a:t>
            </a:r>
            <a:endParaRPr lang="he-IL" sz="1200" dirty="0"/>
          </a:p>
        </p:txBody>
      </p:sp>
      <p:sp>
        <p:nvSpPr>
          <p:cNvPr id="30" name="Shape 28"/>
          <p:cNvSpPr/>
          <p:nvPr/>
        </p:nvSpPr>
        <p:spPr>
          <a:xfrm>
            <a:off x="4039018" y="3611880"/>
            <a:ext cx="1094475" cy="1005840"/>
          </a:xfrm>
          <a:prstGeom prst="rect">
            <a:avLst/>
          </a:prstGeom>
          <a:solidFill>
            <a:srgbClr val="4B3BC4"/>
          </a:solidFill>
          <a:ln w="12700">
            <a:solidFill>
              <a:srgbClr val="4B3BC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2170" y="3685032"/>
            <a:ext cx="9390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13:45</a:t>
            </a:r>
            <a:endParaRPr lang="he-IL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112170" y="4160520"/>
            <a:ext cx="9390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השלמה</a:t>
            </a:r>
            <a:endParaRPr lang="he-IL" sz="1200" dirty="0"/>
          </a:p>
        </p:txBody>
      </p:sp>
      <p:sp>
        <p:nvSpPr>
          <p:cNvPr id="33" name="Shape 31"/>
          <p:cNvSpPr/>
          <p:nvPr/>
        </p:nvSpPr>
        <p:spPr>
          <a:xfrm>
            <a:off x="2667798" y="3611880"/>
            <a:ext cx="1343788" cy="1005840"/>
          </a:xfrm>
          <a:prstGeom prst="rect">
            <a:avLst/>
          </a:prstGeom>
          <a:solidFill>
            <a:srgbClr val="C24E0C"/>
          </a:solidFill>
          <a:ln w="12700">
            <a:solidFill>
              <a:srgbClr val="C24E0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40950" y="3685032"/>
            <a:ext cx="1188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14:30</a:t>
            </a:r>
            <a:endParaRPr lang="he-IL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740950" y="4160520"/>
            <a:ext cx="1188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עמדות</a:t>
            </a:r>
            <a:endParaRPr lang="he-IL" sz="1200" dirty="0"/>
          </a:p>
        </p:txBody>
      </p:sp>
      <p:sp>
        <p:nvSpPr>
          <p:cNvPr id="36" name="Shape 34"/>
          <p:cNvSpPr/>
          <p:nvPr/>
        </p:nvSpPr>
        <p:spPr>
          <a:xfrm>
            <a:off x="1545891" y="3611880"/>
            <a:ext cx="1094475" cy="1005840"/>
          </a:xfrm>
          <a:prstGeom prst="rect">
            <a:avLst/>
          </a:prstGeom>
          <a:solidFill>
            <a:srgbClr val="C24E0C"/>
          </a:solidFill>
          <a:ln w="12700">
            <a:solidFill>
              <a:srgbClr val="C24E0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19043" y="3685032"/>
            <a:ext cx="9390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15:45</a:t>
            </a:r>
            <a:endParaRPr lang="he-IL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619043" y="4160520"/>
            <a:ext cx="9390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הצגה</a:t>
            </a:r>
            <a:endParaRPr lang="he-IL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3611880"/>
            <a:ext cx="969819" cy="1005840"/>
          </a:xfrm>
          <a:prstGeom prst="rect">
            <a:avLst/>
          </a:prstGeom>
          <a:solidFill>
            <a:srgbClr val="C24E0C"/>
          </a:solidFill>
          <a:ln w="12700">
            <a:solidFill>
              <a:srgbClr val="C24E0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792" y="3685032"/>
            <a:ext cx="8143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16:30</a:t>
            </a:r>
            <a:endParaRPr lang="he-IL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21792" y="4160520"/>
            <a:ext cx="8143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הכרזה</a:t>
            </a:r>
            <a:endParaRPr lang="he-IL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פיתוח נטו: כ-10.5 שעות · סיום הפיתוח ביום ב' ב-14:30 · הצגה מרכזית של 8 צוותים</a:t>
            </a:r>
            <a:endParaRPr lang="he-IL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הצגת תוצרים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6233008" y="1737360"/>
            <a:ext cx="5410048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1608" y="192024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הצגה בעמדות</a:t>
            </a:r>
            <a:endParaRPr lang="he-I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61608" y="2423160"/>
            <a:ext cx="495284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צוות מציג בעמדה או בחדר שלו, עם שלט וקוד QR להצבעה.</a:t>
            </a:r>
            <a:endParaRPr lang="he-IL" sz="1600" dirty="0"/>
          </a:p>
          <a:p>
            <a:pPr rtl="1" algn="r" indent="0" marL="0">
              <a:buNone/>
            </a:pPr>
            <a:r>
              <a:rPr lang="he-IL" altLang="en-US" sz="16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שופט מבקר ב-6–8 עמדות, 5 דקות בכל עמדה. כל צוות נבחן על ידי שני שופטים לפחות.</a:t>
            </a:r>
            <a:endParaRPr lang="he-IL" sz="1600" dirty="0"/>
          </a:p>
          <a:p>
            <a:pPr rtl="1" algn="r" indent="0" marL="0">
              <a:buNone/>
            </a:pPr>
            <a:r>
              <a:rPr lang="he-IL" altLang="en-US" sz="16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צוותי חומרה מציגים במעבדה.</a:t>
            </a:r>
            <a:endParaRPr lang="he-IL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10048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הצגה מרכזית</a:t>
            </a:r>
            <a:endParaRPr lang="he-IL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495284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צוותים שנבחרו; 4 דקות הצגה ודקת שאלות לכל צוות.</a:t>
            </a:r>
            <a:endParaRPr lang="he-IL" sz="1600" dirty="0"/>
          </a:p>
          <a:p>
            <a:pPr rtl="1" algn="r" indent="0" marL="0">
              <a:buNone/>
            </a:pPr>
            <a:r>
              <a:rPr lang="he-IL" altLang="en-US" sz="16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הישיבות הגדול, מקרן ומחשב הצגה אחד, ושידור ב-Teams/Zoom.</a:t>
            </a:r>
            <a:endParaRPr lang="he-IL" sz="1600" dirty="0"/>
          </a:p>
          <a:p>
            <a:pPr rtl="1" algn="r" indent="0" marL="0">
              <a:buNone/>
            </a:pPr>
            <a:r>
              <a:rPr lang="he-IL" altLang="en-US" sz="16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מנחה אחד אחראי על לוח הזמנים.</a:t>
            </a:r>
            <a:endParaRPr lang="he-IL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שיפוט והכרה</a:t>
            </a:r>
            <a:endParaRPr lang="he-IL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3775" y="1737360"/>
          <a:ext cx="56692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38912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משקל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קריטריון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השפעה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ביצוע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ישימות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חדשנות ושימוש ב-AI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שיתוף פעולה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73775" y="48463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ניקוד 1–5 לכל קריטריון. שופט אינו בוחן צוות שכולל עובד שהוא מנהל ישיר שלו.</a:t>
            </a:r>
            <a:endParaRPr lang="he-IL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059375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20240"/>
            <a:ext cx="4510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קטגוריות הכרה</a:t>
            </a:r>
            <a:endParaRPr lang="he-IL" sz="1800" dirty="0"/>
          </a:p>
          <a:p>
            <a:pPr algn="r" indent="0" marL="0">
              <a:spcAft>
                <a:spcPts val="1800"/>
              </a:spcAft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הפרויקט המוביל · ייעול תהליכים · מוצר · חומרה · סימולציה ואלגוריתמיקה · שימוש ב-Claude · בחירת העובדים</a:t>
            </a:r>
            <a:endParaRPr lang="he-IL" sz="1800" dirty="0"/>
          </a:p>
          <a:p>
            <a:pPr algn="r" indent="0" marL="0">
              <a:spcAft>
                <a:spcPts val="600"/>
              </a:spcAft>
              <a:buNone/>
            </a:pPr>
            <a:r>
              <a:rPr lang="he-IL" alt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הכרה בזוכים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שבועיים של זמן עבודה מוקצה לשלושת הפרויקטים המובילים, הצגה בפורום הנהלה ושילוב בתכנון העבודה.</a:t>
            </a:r>
            <a:endParaRPr lang="he-IL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לוגיסטיקה וצוות מארגן</a:t>
            </a:r>
            <a:endParaRPr lang="he-IL" sz="3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8348472"/>
                <a:gridCol w="274320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פתרון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נושא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חדר גדול לפתיחה ולהצגה; חדרי ישיבות לצוותים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מקום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מחשבים, מסכים ומפצלים קיימים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ציוד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סביבות, הרשאות ונתונים מאושרים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תשתיות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החשבונות הקיימים בחברה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ארוחת צהריים כמקובל ופינת קפה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אוכל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טופס דיגיטלי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הצבעה ושיפוט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מארגן (5): מוביל האירוע · תוכן וצוותים · תשתיות ו-Claude · לוגיסטיקה ותקשורת · שיפוט והנחיה</a:t>
            </a:r>
            <a:endParaRPr lang="he-IL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המשך לאחר האירוע</a:t>
            </a:r>
            <a:endParaRPr lang="he-IL" sz="3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8348472"/>
                <a:gridCol w="274320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פעולה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מועד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סקר משוב ופרסום סיכום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יום לאחר האירוע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ריכוז הפרויקטים ושיטות העבודה עם Claude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שבוע לאחר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תחילת העבודה על שלושת הפרויקטים המובילים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שבועיים לאחר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עדכון על פרויקטים שנכנסו לשימוש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יום לאחר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דוח יישום: כלים בשימוש, זמן שנחסך, שינויים במוצר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יום לאחר</a:t>
                      </a:r>
                      <a:endParaRPr lang="he-IL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פרויקט מקבל החלטה מתועדת: המשך פיתוח, העברה לרשימת המשימות, או סגירה.</a:t>
            </a:r>
            <a:endParaRPr lang="he-IL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סיכונים</a:t>
            </a:r>
            <a:endParaRPr lang="he-IL" sz="3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5605272"/>
                <a:gridCol w="1463040"/>
                <a:gridCol w="402336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מענה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חומרה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סיכון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בדיקת היקף באמצע; תוצר מינימלי מוגדר מראש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גבוהה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היקף גדול מהזמן הזמין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בדיקה שבועיים מראש; עמדת תמיכה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גבוהה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חוסר הרשאות לסביבות או ל-Claude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כללים כתובים; נתונים מאושרים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גבוהה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הזנת נתונים רגישים ל-Claude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הקצאת זמן; דוח יישום לאחר 90 יום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גבוהה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היעדר המשך לאחר האירוע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בדיקה מוקדמת; חלוקת עבודה בצוות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בינונית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מגבלות שימוש ב-Claude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סקירת קוד על ידי אדם לפני מיזוג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בינונית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קוד שלא נבדק עובר לשימוש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סרטון גיבוי; בדיקת מחשב ההצגה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בינונית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4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תקלה בהדגמה</a:t>
                      </a:r>
                      <a:endParaRPr lang="he-IL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2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נדרשות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9075191" y="2011680"/>
            <a:ext cx="2567864" cy="2926080"/>
          </a:xfrm>
          <a:prstGeom prst="roundRect">
            <a:avLst>
              <a:gd name="adj" fmla="val 3561"/>
            </a:avLst>
          </a:prstGeom>
          <a:solidFill>
            <a:srgbClr val="3A2E94"/>
          </a:solidFill>
          <a:ln w="12700">
            <a:solidFill>
              <a:srgbClr val="5A4F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03791" y="219456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303791" y="2926080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 האירוע ומועדו</a:t>
            </a:r>
            <a:endParaRPr lang="he-IL" sz="1600" dirty="0"/>
          </a:p>
        </p:txBody>
      </p:sp>
      <p:sp>
        <p:nvSpPr>
          <p:cNvPr id="7" name="Shape 5"/>
          <p:cNvSpPr/>
          <p:nvPr/>
        </p:nvSpPr>
        <p:spPr>
          <a:xfrm>
            <a:off x="6233008" y="2011680"/>
            <a:ext cx="2567864" cy="2926080"/>
          </a:xfrm>
          <a:prstGeom prst="roundRect">
            <a:avLst>
              <a:gd name="adj" fmla="val 3561"/>
            </a:avLst>
          </a:prstGeom>
          <a:solidFill>
            <a:srgbClr val="3A2E94"/>
          </a:solidFill>
          <a:ln w="12700">
            <a:solidFill>
              <a:srgbClr val="5A4F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219456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2926080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התחייבות הנהלה: היעדר פגישות ביום האירוע והקצאת זמן להמשך</a:t>
            </a:r>
            <a:endParaRPr lang="he-IL" sz="1600" dirty="0"/>
          </a:p>
        </p:txBody>
      </p:sp>
      <p:sp>
        <p:nvSpPr>
          <p:cNvPr id="10" name="Shape 8"/>
          <p:cNvSpPr/>
          <p:nvPr/>
        </p:nvSpPr>
        <p:spPr>
          <a:xfrm>
            <a:off x="3390824" y="2011680"/>
            <a:ext cx="2567864" cy="2926080"/>
          </a:xfrm>
          <a:prstGeom prst="roundRect">
            <a:avLst>
              <a:gd name="adj" fmla="val 3561"/>
            </a:avLst>
          </a:prstGeom>
          <a:solidFill>
            <a:srgbClr val="3A2E94"/>
          </a:solidFill>
          <a:ln w="12700">
            <a:solidFill>
              <a:srgbClr val="5A4F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9424" y="219456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619424" y="2926080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בדיקת הרשאות Claude וכללי אבטחת מידע</a:t>
            </a:r>
            <a:endParaRPr lang="he-IL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011680"/>
            <a:ext cx="2567864" cy="2926080"/>
          </a:xfrm>
          <a:prstGeom prst="roundRect">
            <a:avLst>
              <a:gd name="adj" fmla="val 3561"/>
            </a:avLst>
          </a:prstGeom>
          <a:solidFill>
            <a:srgbClr val="3A2E94"/>
          </a:solidFill>
          <a:ln w="12700">
            <a:solidFill>
              <a:srgbClr val="5A4F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19456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926080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מינוי צוות מארגן והפצת סקר הבעיות</a:t>
            </a:r>
            <a:endParaRPr lang="he-IL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תוכנית יום האקטון</dc:title>
  <dc:subject>PptxGenJS Presentation</dc:subject>
  <dc:creator>PptxGenJS</dc:creator>
  <cp:lastModifiedBy>PptxGenJS</cp:lastModifiedBy>
  <cp:revision>1</cp:revision>
  <dcterms:created xsi:type="dcterms:W3CDTF">2026-10-08T15:40:47Z</dcterms:created>
  <dcterms:modified xsi:type="dcterms:W3CDTF">2026-10-08T15:40:47Z</dcterms:modified>
</cp:coreProperties>
</file>